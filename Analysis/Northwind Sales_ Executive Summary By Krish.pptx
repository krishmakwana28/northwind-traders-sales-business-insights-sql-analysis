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192000" cy="6858000"/>
  <p:notesSz cx="6858000" cy="9144000"/>
  <p:embeddedFontLst>
    <p:embeddedFont>
      <p:font typeface="Lato" panose="020F0502020204030203" pitchFamily="34" charset="0"/>
      <p:regular r:id="rId4"/>
      <p:bold r:id="rId5"/>
      <p:italic r:id="rId6"/>
      <p:boldItalic r:id="rId7"/>
    </p:embeddedFont>
    <p:embeddedFont>
      <p:font typeface="Poppins" panose="00000500000000000000" pitchFamily="2" charset="0"/>
      <p:regular r:id="rId8"/>
      <p:bold r:id="rId9"/>
      <p:italic r:id="rId10"/>
      <p:boldItalic r:id="rId11"/>
    </p:embeddedFont>
    <p:embeddedFont>
      <p:font typeface="Poppins SemiBold" panose="00000700000000000000" pitchFamily="2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4660"/>
  </p:normalViewPr>
  <p:slideViewPr>
    <p:cSldViewPr snapToGrid="0">
      <p:cViewPr varScale="1">
        <p:scale>
          <a:sx n="83" d="100"/>
          <a:sy n="83" d="100"/>
        </p:scale>
        <p:origin x="936" y="2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3" Type="http://schemas.openxmlformats.org/officeDocument/2006/relationships/image" Target="../media/image1.jpg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4" Type="http://schemas.openxmlformats.org/officeDocument/2006/relationships/hyperlink" Target="https://www.cato.org/blog/trumps-tariff-plan-will-raise-prices-consumers-just-bastiat-warned-170-years-ago" TargetMode="Externa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7797" b="7797"/>
          <a:stretch/>
        </p:blipFill>
        <p:spPr>
          <a:xfrm>
            <a:off x="5051" y="-892255"/>
            <a:ext cx="12344400" cy="7641759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182350" y="177351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235648" y="354951"/>
            <a:ext cx="9720704" cy="4616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Poppins"/>
                <a:ea typeface="Poppins"/>
                <a:cs typeface="Poppins"/>
                <a:sym typeface="Poppins"/>
              </a:rPr>
              <a:t>NORTHWIND Traders: SALES INSIGHTS SUMMARY</a:t>
            </a:r>
            <a:endParaRPr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638175" y="1009650"/>
            <a:ext cx="111633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2">
                    <a:lumMod val="50000"/>
                  </a:schemeClr>
                </a:solidFill>
                <a:latin typeface="Lato"/>
                <a:ea typeface="Lato"/>
                <a:cs typeface="Lato"/>
                <a:sym typeface="Lato"/>
              </a:rPr>
              <a:t>Dataset: Northwind Traders • Scope: Revenue, Customers, Products, Operations</a:t>
            </a:r>
            <a:endParaRPr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05BC64B-2995-26C5-95D2-A33F84E77708}"/>
              </a:ext>
            </a:extLst>
          </p:cNvPr>
          <p:cNvGrpSpPr/>
          <p:nvPr/>
        </p:nvGrpSpPr>
        <p:grpSpPr>
          <a:xfrm>
            <a:off x="390525" y="4252600"/>
            <a:ext cx="5610225" cy="2438400"/>
            <a:chOff x="390525" y="4252600"/>
            <a:chExt cx="5610225" cy="2438400"/>
          </a:xfrm>
        </p:grpSpPr>
        <p:pic>
          <p:nvPicPr>
            <p:cNvPr id="87" name="Google Shape;87;p1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90525" y="4252600"/>
              <a:ext cx="5610225" cy="2438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1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28650" y="6043029"/>
              <a:ext cx="5133975" cy="514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28650" y="4505879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3"/>
            <p:cNvSpPr txBox="1"/>
            <p:nvPr/>
          </p:nvSpPr>
          <p:spPr>
            <a:xfrm>
              <a:off x="1028700" y="4490725"/>
              <a:ext cx="2550318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PRODUCT &amp; CATEGORY</a:t>
              </a:r>
              <a:endParaRPr/>
            </a:p>
          </p:txBody>
        </p:sp>
        <p:sp>
          <p:nvSpPr>
            <p:cNvPr id="115" name="Google Shape;115;p13"/>
            <p:cNvSpPr txBox="1"/>
            <p:nvPr/>
          </p:nvSpPr>
          <p:spPr>
            <a:xfrm>
              <a:off x="628650" y="4876487"/>
              <a:ext cx="513397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Top Product: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Côte de </a:t>
              </a:r>
              <a:r>
                <a:rPr lang="en-US" sz="1125" b="0" i="0" u="none" strike="noStrike" cap="none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Blaye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is the highest-earning Product</a:t>
              </a: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dirty="0"/>
            </a:p>
          </p:txBody>
        </p:sp>
        <p:sp>
          <p:nvSpPr>
            <p:cNvPr id="116" name="Google Shape;116;p13"/>
            <p:cNvSpPr txBox="1"/>
            <p:nvPr/>
          </p:nvSpPr>
          <p:spPr>
            <a:xfrm>
              <a:off x="628650" y="5095559"/>
              <a:ext cx="513397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Top Category: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Beverages leads profitability, followed by Dairy.</a:t>
              </a:r>
              <a:endParaRPr dirty="0"/>
            </a:p>
          </p:txBody>
        </p:sp>
        <p:sp>
          <p:nvSpPr>
            <p:cNvPr id="118" name="Google Shape;118;p13"/>
            <p:cNvSpPr txBox="1"/>
            <p:nvPr/>
          </p:nvSpPr>
          <p:spPr>
            <a:xfrm>
              <a:off x="628650" y="5690875"/>
              <a:ext cx="5133975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High demand for premium category :-</a:t>
              </a: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Beverages ,Dairy </a:t>
              </a:r>
              <a:r>
                <a:rPr lang="en-US" sz="1125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Products,Confections</a:t>
              </a: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        </a:t>
              </a:r>
            </a:p>
            <a:p>
              <a:pPr marL="0" marR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   along with Meat &amp; </a:t>
              </a:r>
              <a:r>
                <a:rPr lang="en-US" sz="1125" dirty="0" err="1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Poultry,SeaFood,Condiments,Produce,Grains</a:t>
              </a: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&amp; Cereals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dirty="0"/>
            </a:p>
          </p:txBody>
        </p:sp>
        <p:sp>
          <p:nvSpPr>
            <p:cNvPr id="119" name="Google Shape;119;p13"/>
            <p:cNvSpPr txBox="1"/>
            <p:nvPr/>
          </p:nvSpPr>
          <p:spPr>
            <a:xfrm>
              <a:off x="809625" y="6138279"/>
              <a:ext cx="4810125" cy="3238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50" b="1" i="0" u="none" strike="noStrike" cap="none" dirty="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Prioritize inventory and marketing spend for top-performing "Beverages" category.</a:t>
              </a:r>
              <a:endParaRPr dirty="0"/>
            </a:p>
          </p:txBody>
        </p:sp>
        <p:pic>
          <p:nvPicPr>
            <p:cNvPr id="129" name="Google Shape;129;p13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762000" y="6195429"/>
              <a:ext cx="152400" cy="1333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117;p13">
              <a:extLst>
                <a:ext uri="{FF2B5EF4-FFF2-40B4-BE49-F238E27FC236}">
                  <a16:creationId xmlns:a16="http://schemas.microsoft.com/office/drawing/2014/main" id="{537C92D8-69E3-C0D1-5781-DA276108C573}"/>
                </a:ext>
              </a:extLst>
            </p:cNvPr>
            <p:cNvSpPr txBox="1"/>
            <p:nvPr/>
          </p:nvSpPr>
          <p:spPr>
            <a:xfrm>
              <a:off x="628642" y="5331094"/>
              <a:ext cx="5133975" cy="347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/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IN" sz="1125" b="1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Tail-End:. </a:t>
              </a:r>
              <a:r>
                <a:rPr lang="en-IN" sz="1130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Products like </a:t>
              </a:r>
              <a:r>
                <a:rPr lang="en-IN" sz="1130" dirty="0" err="1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Chocolade</a:t>
              </a:r>
              <a:r>
                <a:rPr lang="en-IN" sz="1130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 are underperforming and may need                                 </a:t>
              </a:r>
            </a:p>
            <a:p>
              <a:pPr lvl="0"/>
              <a:r>
                <a:rPr lang="en-IN" sz="1130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                    repositioning</a:t>
              </a:r>
              <a:endParaRPr sz="113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753ABD1-DA49-FDCE-733D-5EDE80BE0E9A}"/>
              </a:ext>
            </a:extLst>
          </p:cNvPr>
          <p:cNvGrpSpPr/>
          <p:nvPr/>
        </p:nvGrpSpPr>
        <p:grpSpPr>
          <a:xfrm>
            <a:off x="6191250" y="4252600"/>
            <a:ext cx="5610225" cy="2438400"/>
            <a:chOff x="6191250" y="4252600"/>
            <a:chExt cx="5610225" cy="2438400"/>
          </a:xfrm>
        </p:grpSpPr>
        <p:pic>
          <p:nvPicPr>
            <p:cNvPr id="88" name="Google Shape;88;p1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191250" y="4252600"/>
              <a:ext cx="5610225" cy="2438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2" name="Google Shape;92;p13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429375" y="6074324"/>
              <a:ext cx="5133975" cy="4601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13" descr="image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429375" y="4496643"/>
              <a:ext cx="285750" cy="228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" name="Google Shape;121;p13"/>
            <p:cNvSpPr txBox="1"/>
            <p:nvPr/>
          </p:nvSpPr>
          <p:spPr>
            <a:xfrm>
              <a:off x="6829425" y="4490725"/>
              <a:ext cx="2340292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1E3A8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SALES &amp; OPERATIONS</a:t>
              </a:r>
              <a:endParaRPr/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6390186" y="4934862"/>
              <a:ext cx="513397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Top Sales Representative :-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Margaret Peacock (Highest Revenue Generation).</a:t>
              </a:r>
              <a:endParaRPr dirty="0"/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6377123" y="5169449"/>
              <a:ext cx="5133975" cy="1714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Logistics :-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Avg Ship Time is 9 days. 37 late orders detected.</a:t>
              </a:r>
              <a:endParaRPr dirty="0"/>
            </a:p>
          </p:txBody>
        </p:sp>
        <p:sp>
          <p:nvSpPr>
            <p:cNvPr id="124" name="Google Shape;124;p13"/>
            <p:cNvSpPr txBox="1"/>
            <p:nvPr/>
          </p:nvSpPr>
          <p:spPr>
            <a:xfrm>
              <a:off x="6364605" y="5393152"/>
              <a:ext cx="5313590" cy="346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Speed</a:t>
              </a:r>
              <a:r>
                <a:rPr lang="en-US" sz="1125" b="1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Performance (Shipper)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:- 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Federal Shipping(8 days)</a:t>
              </a: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, Speedy Express (9Days)</a:t>
              </a:r>
            </a:p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                                                          , 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United Package (10 days).</a:t>
              </a:r>
              <a:endParaRPr dirty="0"/>
            </a:p>
          </p:txBody>
        </p:sp>
        <p:sp>
          <p:nvSpPr>
            <p:cNvPr id="125" name="Google Shape;125;p13"/>
            <p:cNvSpPr txBox="1"/>
            <p:nvPr/>
          </p:nvSpPr>
          <p:spPr>
            <a:xfrm>
              <a:off x="6390186" y="5756190"/>
              <a:ext cx="5133975" cy="1731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Reliability </a:t>
              </a:r>
              <a:r>
                <a:rPr lang="en-IN" sz="1125" b="1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Issue</a:t>
              </a:r>
              <a:r>
                <a:rPr lang="en-US" sz="1125" b="1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:-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IN" sz="1125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United Package </a:t>
              </a:r>
              <a:r>
                <a:rPr lang="en-US" sz="1125" b="0" i="0" u="none" strike="noStrike" cap="none" dirty="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flagged for highest late shipment count (16) .</a:t>
              </a:r>
              <a:endParaRPr dirty="0"/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6624638" y="6140998"/>
              <a:ext cx="4810125" cy="3231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3335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050" b="1" dirty="0">
                  <a:solidFill>
                    <a:srgbClr val="1E40AF"/>
                  </a:solidFill>
                  <a:latin typeface="Lato"/>
                  <a:ea typeface="Lato"/>
                  <a:cs typeface="Lato"/>
                </a:rPr>
                <a:t>Optimize Shipping: Shift high-priority volume to Federal Shipping to improve SLAs.</a:t>
              </a:r>
              <a:r>
                <a:rPr lang="en-US" sz="1050" b="1" dirty="0">
                  <a:solidFill>
                    <a:srgbClr val="1E40AF"/>
                  </a:solidFill>
                  <a:latin typeface="Lato"/>
                  <a:ea typeface="Lato"/>
                  <a:cs typeface="Lato"/>
                  <a:sym typeface="Lato"/>
                </a:rPr>
                <a:t>.</a:t>
              </a:r>
              <a:endParaRPr sz="1050" b="1" dirty="0">
                <a:solidFill>
                  <a:srgbClr val="1E40AF"/>
                </a:solidFill>
                <a:latin typeface="Lato"/>
                <a:ea typeface="Lato"/>
                <a:cs typeface="Lato"/>
              </a:endParaRPr>
            </a:p>
          </p:txBody>
        </p:sp>
        <p:pic>
          <p:nvPicPr>
            <p:cNvPr id="130" name="Google Shape;130;p13" descr="image.png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6548336" y="6198149"/>
              <a:ext cx="133350" cy="133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" name="Google Shape;131;p13"/>
          <p:cNvSpPr txBox="1"/>
          <p:nvPr/>
        </p:nvSpPr>
        <p:spPr>
          <a:xfrm>
            <a:off x="704850" y="7639050"/>
            <a:ext cx="282178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Risk:</a:t>
            </a:r>
            <a:endParaRPr/>
          </a:p>
        </p:txBody>
      </p:sp>
      <p:sp>
        <p:nvSpPr>
          <p:cNvPr id="132" name="Google Shape;132;p13"/>
          <p:cNvSpPr txBox="1"/>
          <p:nvPr/>
        </p:nvSpPr>
        <p:spPr>
          <a:xfrm>
            <a:off x="2621905" y="7639050"/>
            <a:ext cx="282029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Cost: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4667250" y="7639050"/>
            <a:ext cx="213270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Fix:</a:t>
            </a:r>
            <a:endParaRPr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6AA09D6-07AB-0D0C-466F-8DF249577615}"/>
              </a:ext>
            </a:extLst>
          </p:cNvPr>
          <p:cNvGrpSpPr/>
          <p:nvPr/>
        </p:nvGrpSpPr>
        <p:grpSpPr>
          <a:xfrm>
            <a:off x="390525" y="1433200"/>
            <a:ext cx="5610225" cy="2628900"/>
            <a:chOff x="390525" y="1433200"/>
            <a:chExt cx="5610225" cy="26289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0571954-E4F3-4754-1796-FD392E658DBD}"/>
                </a:ext>
              </a:extLst>
            </p:cNvPr>
            <p:cNvGrpSpPr/>
            <p:nvPr/>
          </p:nvGrpSpPr>
          <p:grpSpPr>
            <a:xfrm>
              <a:off x="390525" y="1433200"/>
              <a:ext cx="5610225" cy="2628900"/>
              <a:chOff x="390525" y="1433200"/>
              <a:chExt cx="5610225" cy="2628900"/>
            </a:xfrm>
          </p:grpSpPr>
          <p:pic>
            <p:nvPicPr>
              <p:cNvPr id="85" name="Google Shape;85;p13" descr="image.png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390525" y="1433200"/>
                <a:ext cx="5610225" cy="262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9" name="Google Shape;89;p13" descr="image.png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628650" y="3471550"/>
                <a:ext cx="5133975" cy="3524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3" name="Google Shape;93;p13" descr="image.png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628650" y="2128525"/>
                <a:ext cx="1647825" cy="657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4" name="Google Shape;94;p13" descr="image.png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2371725" y="2128525"/>
                <a:ext cx="1647825" cy="657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5" name="Google Shape;95;p13" descr="image.png"/>
              <p:cNvPicPr preferRelativeResize="0"/>
              <p:nvPr/>
            </p:nvPicPr>
            <p:blipFill rotWithShape="1">
              <a:blip r:embed="rId16">
                <a:alphaModFix/>
              </a:blip>
              <a:srcRect/>
              <a:stretch/>
            </p:blipFill>
            <p:spPr>
              <a:xfrm>
                <a:off x="4114800" y="2128525"/>
                <a:ext cx="1647825" cy="65722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1" name="Google Shape;101;p13" descr="image.png"/>
              <p:cNvPicPr preferRelativeResize="0"/>
              <p:nvPr/>
            </p:nvPicPr>
            <p:blipFill rotWithShape="1">
              <a:blip r:embed="rId17">
                <a:alphaModFix/>
              </a:blip>
              <a:srcRect/>
              <a:stretch/>
            </p:blipFill>
            <p:spPr>
              <a:xfrm>
                <a:off x="628650" y="1677243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2" name="Google Shape;102;p13"/>
              <p:cNvSpPr txBox="1"/>
              <p:nvPr/>
            </p:nvSpPr>
            <p:spPr>
              <a:xfrm>
                <a:off x="971550" y="1671325"/>
                <a:ext cx="2270283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1E3A8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REVENUE &amp; GROWTH</a:t>
                </a:r>
                <a:endParaRPr/>
              </a:p>
            </p:txBody>
          </p:sp>
          <p:sp>
            <p:nvSpPr>
              <p:cNvPr id="103" name="Google Shape;103;p13"/>
              <p:cNvSpPr txBox="1"/>
              <p:nvPr/>
            </p:nvSpPr>
            <p:spPr>
              <a:xfrm>
                <a:off x="628650" y="2928625"/>
                <a:ext cx="51339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</a:t>
                </a:r>
                <a:r>
                  <a:rPr lang="en-US" sz="1125" b="0" i="0" u="none" strike="noStrike" cap="none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Trend: Growing steadily, peaking in 2014.</a:t>
                </a:r>
                <a:endParaRPr/>
              </a:p>
            </p:txBody>
          </p:sp>
          <p:sp>
            <p:nvSpPr>
              <p:cNvPr id="104" name="Google Shape;104;p13"/>
              <p:cNvSpPr txBox="1"/>
              <p:nvPr/>
            </p:nvSpPr>
            <p:spPr>
              <a:xfrm>
                <a:off x="628650" y="3223900"/>
                <a:ext cx="51339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</a:t>
                </a:r>
                <a:endParaRPr/>
              </a:p>
            </p:txBody>
          </p:sp>
          <p:sp>
            <p:nvSpPr>
              <p:cNvPr id="105" name="Google Shape;105;p13"/>
              <p:cNvSpPr txBox="1"/>
              <p:nvPr/>
            </p:nvSpPr>
            <p:spPr>
              <a:xfrm>
                <a:off x="809625" y="3566800"/>
                <a:ext cx="4810125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04775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050" b="1" i="0" u="none" strike="noStrike" cap="none">
                    <a:solidFill>
                      <a:srgbClr val="1E40AF"/>
                    </a:solidFill>
                    <a:latin typeface="Lato"/>
                    <a:ea typeface="Lato"/>
                    <a:cs typeface="Lato"/>
                    <a:sym typeface="Lato"/>
                  </a:rPr>
                  <a:t>Discounts significantly erode margins; strategic pricing review recommended.</a:t>
                </a:r>
                <a:endParaRPr/>
              </a:p>
            </p:txBody>
          </p:sp>
          <p:pic>
            <p:nvPicPr>
              <p:cNvPr id="127" name="Google Shape;127;p13" descr="image.png"/>
              <p:cNvPicPr preferRelativeResize="0"/>
              <p:nvPr/>
            </p:nvPicPr>
            <p:blipFill rotWithShape="1">
              <a:blip r:embed="rId18">
                <a:alphaModFix/>
              </a:blip>
              <a:srcRect/>
              <a:stretch/>
            </p:blipFill>
            <p:spPr>
              <a:xfrm>
                <a:off x="781455" y="3576325"/>
                <a:ext cx="104775" cy="13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" name="Google Shape;104;p13">
              <a:extLst>
                <a:ext uri="{FF2B5EF4-FFF2-40B4-BE49-F238E27FC236}">
                  <a16:creationId xmlns:a16="http://schemas.microsoft.com/office/drawing/2014/main" id="{7209D4B8-EEE1-9B70-8C14-100577FB7269}"/>
                </a:ext>
              </a:extLst>
            </p:cNvPr>
            <p:cNvSpPr txBox="1"/>
            <p:nvPr/>
          </p:nvSpPr>
          <p:spPr>
            <a:xfrm>
              <a:off x="628649" y="3226959"/>
              <a:ext cx="5133975" cy="1731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 b="0" i="0" u="none" strike="noStrike" cap="none" dirty="0">
                  <a:solidFill>
                    <a:srgbClr val="3B82F6"/>
                  </a:solidFill>
                  <a:latin typeface="Lato"/>
                  <a:ea typeface="Lato"/>
                  <a:cs typeface="Lato"/>
                  <a:sym typeface="Lato"/>
                </a:rPr>
                <a:t>• </a:t>
              </a:r>
              <a:r>
                <a:rPr lang="en-IN" sz="1125" dirty="0">
                  <a:solidFill>
                    <a:srgbClr val="475569"/>
                  </a:solidFill>
                  <a:latin typeface="Lato"/>
                  <a:ea typeface="Lato"/>
                  <a:cs typeface="Lato"/>
                </a:rPr>
                <a:t>Revenue fluctuates month-to-month, April generate Highest seasonal Revenue</a:t>
              </a:r>
              <a:endParaRPr sz="1125" dirty="0">
                <a:solidFill>
                  <a:srgbClr val="475569"/>
                </a:solidFill>
                <a:latin typeface="Lato"/>
                <a:ea typeface="Lato"/>
                <a:cs typeface="Lato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0AC822D-FDB2-9B64-B21C-C5DAE787D7DC}"/>
              </a:ext>
            </a:extLst>
          </p:cNvPr>
          <p:cNvGrpSpPr/>
          <p:nvPr/>
        </p:nvGrpSpPr>
        <p:grpSpPr>
          <a:xfrm>
            <a:off x="6191250" y="1433200"/>
            <a:ext cx="5610225" cy="2628900"/>
            <a:chOff x="6191250" y="1433200"/>
            <a:chExt cx="5610225" cy="2628900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8C278E1-ABD0-F1A2-54FD-FD770D886C2C}"/>
                </a:ext>
              </a:extLst>
            </p:cNvPr>
            <p:cNvGrpSpPr/>
            <p:nvPr/>
          </p:nvGrpSpPr>
          <p:grpSpPr>
            <a:xfrm>
              <a:off x="6191250" y="1433200"/>
              <a:ext cx="5610225" cy="2628900"/>
              <a:chOff x="6191250" y="1433200"/>
              <a:chExt cx="5610225" cy="2628900"/>
            </a:xfrm>
          </p:grpSpPr>
          <p:pic>
            <p:nvPicPr>
              <p:cNvPr id="86" name="Google Shape;86;p13" descr="image.png"/>
              <p:cNvPicPr preferRelativeResize="0"/>
              <p:nvPr/>
            </p:nvPicPr>
            <p:blipFill rotWithShape="1">
              <a:blip r:embed="rId19">
                <a:alphaModFix/>
              </a:blip>
              <a:srcRect/>
              <a:stretch/>
            </p:blipFill>
            <p:spPr>
              <a:xfrm>
                <a:off x="6191250" y="1433200"/>
                <a:ext cx="5610225" cy="26289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0" name="Google Shape;90;p13" descr="image.png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6416313" y="3223900"/>
                <a:ext cx="5147038" cy="77248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6" name="Google Shape;106;p13" descr="image.png"/>
              <p:cNvPicPr preferRelativeResize="0"/>
              <p:nvPr/>
            </p:nvPicPr>
            <p:blipFill rotWithShape="1">
              <a:blip r:embed="rId20">
                <a:alphaModFix/>
              </a:blip>
              <a:srcRect/>
              <a:stretch/>
            </p:blipFill>
            <p:spPr>
              <a:xfrm>
                <a:off x="6429375" y="1658771"/>
                <a:ext cx="228600" cy="2286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7" name="Google Shape;107;p13"/>
              <p:cNvSpPr txBox="1"/>
              <p:nvPr/>
            </p:nvSpPr>
            <p:spPr>
              <a:xfrm>
                <a:off x="6772275" y="1671325"/>
                <a:ext cx="2410301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50" b="0" i="0" u="none" strike="noStrike" cap="none">
                    <a:solidFill>
                      <a:srgbClr val="1E3A8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CUSTOMER &amp; MARKET</a:t>
                </a:r>
                <a:endParaRPr/>
              </a:p>
            </p:txBody>
          </p:sp>
          <p:sp>
            <p:nvSpPr>
              <p:cNvPr id="108" name="Google Shape;108;p13"/>
              <p:cNvSpPr txBox="1"/>
              <p:nvPr/>
            </p:nvSpPr>
            <p:spPr>
              <a:xfrm>
                <a:off x="6416312" y="2167714"/>
                <a:ext cx="5372100" cy="17312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 dirty="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Top Country Market: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USA leads in total revenue; Poland represents the minimum.</a:t>
                </a:r>
                <a:endParaRPr dirty="0"/>
              </a:p>
            </p:txBody>
          </p:sp>
          <p:sp>
            <p:nvSpPr>
              <p:cNvPr id="109" name="Google Shape;109;p13"/>
              <p:cNvSpPr txBox="1"/>
              <p:nvPr/>
            </p:nvSpPr>
            <p:spPr>
              <a:xfrm>
                <a:off x="6429375" y="2684384"/>
                <a:ext cx="51339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 dirty="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Risk: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Top 10 customers contribute a dominant share of total revenue.</a:t>
                </a:r>
                <a:endParaRPr dirty="0"/>
              </a:p>
            </p:txBody>
          </p:sp>
          <p:sp>
            <p:nvSpPr>
              <p:cNvPr id="110" name="Google Shape;110;p13"/>
              <p:cNvSpPr txBox="1"/>
              <p:nvPr/>
            </p:nvSpPr>
            <p:spPr>
              <a:xfrm>
                <a:off x="6429375" y="2430740"/>
                <a:ext cx="51339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 dirty="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Retention: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Save-a-lot Markets 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leads in repeat order frequency.</a:t>
                </a:r>
                <a:endParaRPr dirty="0"/>
              </a:p>
            </p:txBody>
          </p:sp>
          <p:sp>
            <p:nvSpPr>
              <p:cNvPr id="111" name="Google Shape;111;p13"/>
              <p:cNvSpPr txBox="1"/>
              <p:nvPr/>
            </p:nvSpPr>
            <p:spPr>
              <a:xfrm>
                <a:off x="6416312" y="2975979"/>
                <a:ext cx="5133975" cy="1714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125" b="0" i="0" u="none" strike="noStrike" cap="none" dirty="0">
                    <a:solidFill>
                      <a:srgbClr val="3B82F6"/>
                    </a:solidFill>
                    <a:latin typeface="Lato"/>
                    <a:ea typeface="Lato"/>
                    <a:cs typeface="Lato"/>
                    <a:sym typeface="Lato"/>
                  </a:rPr>
                  <a:t>•  </a:t>
                </a:r>
                <a:r>
                  <a:rPr lang="en-US" sz="1125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Top Customer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:-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QUICK-Stop ,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Ernst Handel </a:t>
                </a:r>
                <a:r>
                  <a:rPr lang="en-US" sz="1125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and</a:t>
                </a:r>
                <a:r>
                  <a:rPr lang="en-US" sz="1125" b="1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 Save-a-lot Markets</a:t>
                </a:r>
                <a:r>
                  <a:rPr lang="en-US" sz="1125" b="0" i="0" u="none" strike="noStrike" cap="none" dirty="0">
                    <a:solidFill>
                      <a:srgbClr val="475569"/>
                    </a:solidFill>
                    <a:latin typeface="Lato"/>
                    <a:ea typeface="Lato"/>
                    <a:cs typeface="Lato"/>
                    <a:sym typeface="Lato"/>
                  </a:rPr>
                  <a:t>.</a:t>
                </a:r>
                <a:endParaRPr dirty="0"/>
              </a:p>
            </p:txBody>
          </p:sp>
          <p:sp>
            <p:nvSpPr>
              <p:cNvPr id="112" name="Google Shape;112;p13"/>
              <p:cNvSpPr txBox="1"/>
              <p:nvPr/>
            </p:nvSpPr>
            <p:spPr>
              <a:xfrm>
                <a:off x="6681686" y="3301001"/>
                <a:ext cx="4738789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335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IN" sz="1050" b="1" dirty="0">
                    <a:solidFill>
                      <a:srgbClr val="1E40AF"/>
                    </a:solidFill>
                    <a:latin typeface="Lato"/>
                    <a:ea typeface="Lato"/>
                    <a:cs typeface="Lato"/>
                  </a:rPr>
                  <a:t>Protect High-Value Accounts: Focus on retention for the top  customers to mitigate concentration risk.</a:t>
                </a:r>
                <a:endParaRPr sz="1050" b="1" dirty="0">
                  <a:solidFill>
                    <a:srgbClr val="1E40AF"/>
                  </a:solidFill>
                  <a:latin typeface="Lato"/>
                  <a:ea typeface="Lato"/>
                  <a:cs typeface="Lato"/>
                </a:endParaRPr>
              </a:p>
            </p:txBody>
          </p:sp>
          <p:sp>
            <p:nvSpPr>
              <p:cNvPr id="6" name="Google Shape;112;p13">
                <a:extLst>
                  <a:ext uri="{FF2B5EF4-FFF2-40B4-BE49-F238E27FC236}">
                    <a16:creationId xmlns:a16="http://schemas.microsoft.com/office/drawing/2014/main" id="{DE87BEF2-AE38-903A-0FE6-1E8FD6495070}"/>
                  </a:ext>
                </a:extLst>
              </p:cNvPr>
              <p:cNvSpPr txBox="1"/>
              <p:nvPr/>
            </p:nvSpPr>
            <p:spPr>
              <a:xfrm>
                <a:off x="6653350" y="3628711"/>
                <a:ext cx="4810125" cy="323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33350" tIns="0" rIns="0" bIns="0" anchor="t" anchorCtr="0">
                <a:spAutoFit/>
              </a:bodyPr>
              <a:lstStyle/>
              <a:p>
                <a:r>
                  <a:rPr lang="en-IN" sz="1050" b="1" dirty="0">
                    <a:solidFill>
                      <a:srgbClr val="1E40AF"/>
                    </a:solidFill>
                    <a:latin typeface="Lato"/>
                    <a:ea typeface="Lato"/>
                    <a:cs typeface="Lato"/>
                  </a:rPr>
                  <a:t>Market Expansion: Focus on expanding under-performing regions (Poland, Argentina) to balance the portfolio.</a:t>
                </a:r>
                <a:endParaRPr sz="1050" b="1" dirty="0">
                  <a:solidFill>
                    <a:srgbClr val="1E40AF"/>
                  </a:solidFill>
                  <a:latin typeface="Lato"/>
                  <a:ea typeface="Lato"/>
                  <a:cs typeface="Lato"/>
                </a:endParaRPr>
              </a:p>
            </p:txBody>
          </p:sp>
        </p:grpSp>
        <p:pic>
          <p:nvPicPr>
            <p:cNvPr id="128" name="Google Shape;128;p13" descr="image.png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6572250" y="3363780"/>
              <a:ext cx="133350" cy="133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" name="Google Shape;128;p13" descr="image.png">
              <a:extLst>
                <a:ext uri="{FF2B5EF4-FFF2-40B4-BE49-F238E27FC236}">
                  <a16:creationId xmlns:a16="http://schemas.microsoft.com/office/drawing/2014/main" id="{714BC2B4-A868-0C7A-860C-590F569BF0D8}"/>
                </a:ext>
              </a:extLst>
            </p:cNvPr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6567487" y="3645552"/>
              <a:ext cx="133350" cy="133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318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Poppins SemiBold</vt:lpstr>
      <vt:lpstr>Poppins</vt:lpstr>
      <vt:lpstr>Times New Roman</vt:lpstr>
      <vt:lpstr>Lato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krish makwana</cp:lastModifiedBy>
  <cp:revision>12</cp:revision>
  <dcterms:modified xsi:type="dcterms:W3CDTF">2026-01-04T17:10:00Z</dcterms:modified>
</cp:coreProperties>
</file>